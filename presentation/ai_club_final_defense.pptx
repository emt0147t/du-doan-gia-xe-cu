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1">
                <a:solidFill>
                  <a:srgbClr val="06B6D4"/>
                </a:solidFill>
              </a:defRPr>
            </a:pPr>
            <a:r>
              <a:t>AI CLUB END-TRAINING FINAL DEFENSE • 2026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Used Car Price Prediction in Vietnam</a:t>
            </a:r>
          </a:p>
          <a:p>
            <a:pPr>
              <a:spcAft>
                <a:spcPts val="4000"/>
              </a:spcAft>
              <a:defRPr sz="2000">
                <a:solidFill>
                  <a:srgbClr val="94A3B8"/>
                </a:solidFill>
              </a:defRPr>
            </a:pPr>
            <a:r>
              <a:t>An End-to-End Machine Learning System &amp; Scientific Evaluation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Học viên: AI Student  |  Cố vấn kỹ thuật: Senior Data Scientist &amp; ML Mentor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Trọng tâm: Data Governance • Zero Leakage • Tuned Ensembles • Group-Aware Robustness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0 - 2 • ĐẶT VẤN ĐỀ BÀI TOÁN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Thực Trạng Thị Trường Ô Tô Cũ &amp; Bài Toán Hồi Quy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Bất cân xứng thông tin, dải giá rộng và vai trò của mỏ neo định giá khách quan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Thách Thức Định Giá Tại Việt 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Bất cân xứng thông tin cao: </a:t>
            </a:r>
            <a:r>
              <a:rPr sz="1200">
                <a:solidFill>
                  <a:srgbClr val="1E293B"/>
                </a:solidFill>
              </a:rPr>
              <a:t>Người mua cá nhân thiếu công cụ định lượng giá trị thực của xe cũ trước các chiêu trò salon.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Dải giá biến thiên cực đoan: </a:t>
            </a:r>
            <a:r>
              <a:rPr sz="1200">
                <a:solidFill>
                  <a:srgbClr val="1E293B"/>
                </a:solidFill>
              </a:rPr>
              <a:t>Từ xe van cỡ nhỏ 55 triệu đến siêu xe 45 tỷ VND. Phân phối lệch phải nặng (Skewed).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Tập quán thương lượng (3-5%): </a:t>
            </a:r>
            <a:r>
              <a:rPr sz="1200">
                <a:solidFill>
                  <a:srgbClr val="1E293B"/>
                </a:solidFill>
              </a:rPr>
              <a:t>Biên độ mặc cả thị trường là 15-35M VND cho xe phổ thông. Đây là ngưỡng sai số mục tiêu của mô hình!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Chính sách thuế lũy tiến: </a:t>
            </a:r>
            <a:r>
              <a:rPr sz="1200">
                <a:solidFill>
                  <a:srgbClr val="1E293B"/>
                </a:solidFill>
              </a:rPr>
              <a:t>Thuế Tiêu thụ Đặc biệt (TTĐB) đánh từ 35% đến 150% theo dung tích máy, tạo bước nhảy vọt phi tuyến.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Định Nghĩa Bài Toán Học Máy (ML Formulation)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2563EB"/>
                </a:solidFill>
              </a:rPr>
              <a:t>• Nhiệm vụ (Task): </a:t>
            </a:r>
            <a:r>
              <a:rPr sz="1200">
                <a:solidFill>
                  <a:srgbClr val="1E293B"/>
                </a:solidFill>
              </a:rPr>
              <a:t>Hồi quy bảng có giám sát (Supervised Tabular Regression).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563EB"/>
                </a:solidFill>
              </a:rPr>
              <a:t>• Nhãn mục tiêu (Target): </a:t>
            </a:r>
            <a:r>
              <a:rPr sz="1200">
                <a:solidFill>
                  <a:srgbClr val="1E293B"/>
                </a:solidFill>
              </a:rPr>
              <a:t>price_vnd (Giá rao bán chính thức VND).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563EB"/>
                </a:solidFill>
              </a:rPr>
              <a:t>• Không gian mục tiêu Log: </a:t>
            </a:r>
            <a:r>
              <a:rPr sz="1200">
                <a:solidFill>
                  <a:srgbClr val="1E293B"/>
                </a:solidFill>
              </a:rPr>
              <a:t>ln(price_vnd) để tối ưu sai số tỷ đối tương đối thay vì bị chi phối bởi xe siêu sang.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563EB"/>
                </a:solidFill>
              </a:rPr>
              <a:t>• Không gian đặc trưng: </a:t>
            </a:r>
            <a:r>
              <a:rPr sz="1200">
                <a:solidFill>
                  <a:srgbClr val="1E293B"/>
                </a:solidFill>
              </a:rPr>
              <a:t>15 đặc trưng kỹ thuật, tuổi xe, ODO, phân khúc xe sang, xuất xứ và kiểu dáng.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563EB"/>
                </a:solidFill>
              </a:rPr>
              <a:t>• Bộ chỉ số đánh giá cốt lõi: </a:t>
            </a:r>
            <a:r>
              <a:rPr sz="1200">
                <a:solidFill>
                  <a:srgbClr val="1E293B"/>
                </a:solidFill>
              </a:rPr>
              <a:t>MdAPE (Sai số trung vị tương đối), MAE (Triệu VND), RMSE và R².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3 • NGUỒN GỐC &amp; QUẢN TRỊ DỮ LIỆU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Tiếp Nhận Dữ Liệu Thị Trường &amp; Đạo Đức Dữ Liệu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Tiếp nhận bộ dữ liệu Bonbanh 30,652 dòng, xác lập Cohort A và bảo toàn mã băm SHA-256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Nguồn Gốc &amp; Tính Toàn Vẹn SHA-256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Dữ liệu thô chính (Primary): </a:t>
            </a:r>
            <a:r>
              <a:rPr sz="1200">
                <a:solidFill>
                  <a:srgbClr val="1E293B"/>
                </a:solidFill>
              </a:rPr>
              <a:t>car_detail.csv (30,652 dòng, 24 cột). SHA-256: 44C13AFC...7F32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Dữ liệu bổ trợ (Companion): </a:t>
            </a:r>
            <a:r>
              <a:rPr sz="1200">
                <a:solidFill>
                  <a:srgbClr val="1E293B"/>
                </a:solidFill>
              </a:rPr>
              <a:t>car_sell_processed.csv (30,652 dòng). SHA-256: 1D0C0D2F...FBBD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Quyền sở hữu &amp; Giấy phép: </a:t>
            </a:r>
            <a:r>
              <a:rPr sz="1200">
                <a:solidFill>
                  <a:srgbClr val="1E293B"/>
                </a:solidFill>
              </a:rPr>
              <a:t>Dữ liệu thứ cấp công khai Kaggle Bonbanh CC0 Public Domain. Được Mentor phê duyệt thay thế việc live-crawl rủi ro cao.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Nguyên tắc bất biến: </a:t>
            </a:r>
            <a:r>
              <a:rPr sz="1200">
                <a:solidFill>
                  <a:srgbClr val="1E293B"/>
                </a:solidFill>
              </a:rPr>
              <a:t>Thư mục data/raw/ ở chế độ Read-Only tuyệt đối. Mã băm được kiểm toán xác nhận nguyên vẹn 100% qua tất cả các Phase.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Xác Lập Cohort &amp; Đạo Đức Dữ Liệu (PII)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2563EB"/>
                </a:solidFill>
              </a:rPr>
              <a:t>• Cohort A (Trọng tâm Đề tài): </a:t>
            </a:r>
            <a:r>
              <a:rPr sz="1200">
                <a:solidFill>
                  <a:srgbClr val="1E293B"/>
                </a:solidFill>
              </a:rPr>
              <a:t>Xe sản xuất từ 2015-2023. Gồm 23,510 bản ghi sạch (76.7% dữ liệu). Đại diện cho &gt;85% thanh khoản thị trường xe cũ đương đại.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563EB"/>
                </a:solidFill>
              </a:rPr>
              <a:t>• Cohort B (Mở rộng độ nhạy): </a:t>
            </a:r>
            <a:r>
              <a:rPr sz="1200">
                <a:solidFill>
                  <a:srgbClr val="1E293B"/>
                </a:solidFill>
              </a:rPr>
              <a:t>Xe sản xuất từ 2010-2023. Gồm 27,299 bản ghi. Kiểm tra độ nhạy ngoại suy xe đời sâu.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563EB"/>
                </a:solidFill>
              </a:rPr>
              <a:t>• Khử danh tính triệt để (PII): </a:t>
            </a:r>
            <a:r>
              <a:rPr sz="1200">
                <a:solidFill>
                  <a:srgbClr val="1E293B"/>
                </a:solidFill>
              </a:rPr>
              <a:t>Loại bỏ hoàn toàn Số điện thoại cá nhân, tên người bán, URL tin đăng bằng Regex trước khi lập chỉ mục.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563EB"/>
                </a:solidFill>
              </a:rPr>
              <a:t>• Đạo đức thu thập: </a:t>
            </a:r>
            <a:r>
              <a:rPr sz="1200">
                <a:solidFill>
                  <a:srgbClr val="1E293B"/>
                </a:solidFill>
              </a:rPr>
              <a:t>Không gửi tải scraping phá hoại nền tảng. Tuân thủ tuyệt đối điều lệ bảo vệ người dùng.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4 • KHÁM PHÁ DỮ LIỆU (EDA)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Các Phát Hiện Quan Trọng Về Thị Trường &amp; Thuế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Phân phối lệch phải, bước nhảy thuế TTĐB và sự phân hóa thương hiệu hạng sang</a:t>
            </a:r>
          </a:p>
        </p:txBody>
      </p:sp>
      <p:pic>
        <p:nvPicPr>
          <p:cNvPr id="3" name="Picture 2" descr="fig01_target_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120640" cy="4754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Những Khám Phá EDA Quyết Định Thiết Kế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Lệch phải cực đoan (Right-skew): </a:t>
            </a:r>
            <a:r>
              <a:rPr sz="1200">
                <a:solidFill>
                  <a:srgbClr val="1E293B"/>
                </a:solidFill>
              </a:rPr>
              <a:t>Median = 719M VND, Mean = 1.164B VND (lệch +445M). Đuôi dài kéo tới 45 tỷ khiến mô hình OLS thô bị sập.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Phân phối Log-normal chuẩn mực: </a:t>
            </a:r>
            <a:r>
              <a:rPr sz="1200">
                <a:solidFill>
                  <a:srgbClr val="1E293B"/>
                </a:solidFill>
              </a:rPr>
              <a:t>ln(price_vnd) đối xứng hình chuông, chứng minh cơ sở lý thuyết vững chắc cho biến đổi Log.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Dấu ấn Thuế Tiêu thụ Đặc biệt (TTĐB): </a:t>
            </a:r>
            <a:r>
              <a:rPr sz="1200">
                <a:solidFill>
                  <a:srgbClr val="1E293B"/>
                </a:solidFill>
              </a:rPr>
              <a:t>Dung tích xi-lanh là yếu tố phân hóa giá mạnh nhất: xe &gt;3.0L chịu thuế 90-150%, giá tăng phi tuyến tính.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Hiệu ứng thương hiệu hạng sang: </a:t>
            </a:r>
            <a:r>
              <a:rPr sz="1200">
                <a:solidFill>
                  <a:srgbClr val="1E293B"/>
                </a:solidFill>
              </a:rPr>
              <a:t>Mercedes, Lexus, BMW chiếm 21.6% thị phần với giá trung vị 2-4.5 tỷ. Nhóm phổ thông (Toyota, Hyundai, Kia) giữ ổn định 400-800M.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5 • TIỀN XỬ LÝ &amp; KỸ NGHỆ ĐẶC TRƯNG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Chuẩn Hóa Dữ Liệu &amp; Bộ 15 Đặc Trưng Tinh Gọn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Xử lý ODO ngoại lai, bóc tách xe mới showroom và biến đổi không gian mục tiêu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Các Quy Tắc Tiền Xử Lý Tất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Xử lý ODO ngoại lai (&gt;1M km): </a:t>
            </a:r>
            <a:r>
              <a:rPr sz="1200">
                <a:solidFill>
                  <a:srgbClr val="1E293B"/>
                </a:solidFill>
              </a:rPr>
              <a:t>Người bán gõ bừa 999999 km. Không xóa dòng làm mất dữ liệu; thay bằng Median theo nhóm tuổi xe.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Nhận diện 25.8% xe mới Showroom: </a:t>
            </a:r>
            <a:r>
              <a:rPr sz="1200">
                <a:solidFill>
                  <a:srgbClr val="1E293B"/>
                </a:solidFill>
              </a:rPr>
              <a:t>6,066 xe có ODO = 0 km và giá niêm yết cố định. Bổ sung cờ is_zero_mileage và nhãn 'Xe mới' để mô hình không nhầm với xe cũ.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Bộ tách giá NLP tiếng Việt: </a:t>
            </a:r>
            <a:r>
              <a:rPr sz="1200">
                <a:solidFill>
                  <a:srgbClr val="1E293B"/>
                </a:solidFill>
              </a:rPr>
              <a:t>Chuyển đổi hoàn hảo các chuỗi 'X tỷ Y triệu' thành số nguyên VND. Lọc bỏ tin cọc/ước lệ &lt; 10M VND.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Phân nhóm nguồn gốc: </a:t>
            </a:r>
            <a:r>
              <a:rPr sz="1200">
                <a:solidFill>
                  <a:srgbClr val="1E293B"/>
                </a:solidFill>
              </a:rPr>
              <a:t>Chuẩn hóa xuất xứ thành 2 nhóm chính thống: 'Lắp ráp trong nước' vs 'Nhập khẩu'.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Ma Trận Đầu Vào 15 Đặc Trưng &amp;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2563EB"/>
                </a:solidFill>
              </a:rPr>
              <a:t>• 8 Biến Định Lượng (Numeric): </a:t>
            </a:r>
            <a:r>
              <a:rPr sz="1200">
                <a:solidFill>
                  <a:srgbClr val="1E293B"/>
                </a:solidFill>
              </a:rPr>
              <a:t>year, car_age (2023 - year), mileage_km, seats, doors, engine_displacement_l, is_luxury_brand, is_zero_mileage.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563EB"/>
                </a:solidFill>
              </a:rPr>
              <a:t>• 7 Biến Định Danh (Categorical): </a:t>
            </a:r>
            <a:r>
              <a:rPr sz="1200">
                <a:solidFill>
                  <a:srgbClr val="1E293B"/>
                </a:solidFill>
              </a:rPr>
              <a:t>brand (48 hãng), model (451 dòng), origin (2 nhóm), transmission (2 nhóm), fuel_type (4 nhóm), body_type (8 nhóm), condition (2 nhóm).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563EB"/>
                </a:solidFill>
              </a:rPr>
              <a:t>• Biến đổi nhãn mục tiêu (Target): </a:t>
            </a:r>
            <a:r>
              <a:rPr sz="1200">
                <a:solidFill>
                  <a:srgbClr val="1E293B"/>
                </a:solidFill>
              </a:rPr>
              <a:t>Huấn luyện trên ln(price_vnd) và nghịch đảo hàm mũ exp(y_hat) khi đo lường sai số VND.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563EB"/>
                </a:solidFill>
              </a:rPr>
              <a:t>• Chặn 9 cột rò rỉ (Strict Drop): </a:t>
            </a:r>
            <a:r>
              <a:rPr sz="1200">
                <a:solidFill>
                  <a:srgbClr val="1E293B"/>
                </a:solidFill>
              </a:rPr>
              <a:t>price_vnd, log_price, Giá, listing_id, url, Mô tả, Tên xe, Tỉnh thành bị cách ly hoàn toàn.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5 &amp; 6 • PHÂN CHIA TẬP DỮ LIỆU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Giao Thức Phân Tầng 80/10/10 &amp; Phòng Chống Rò Rỉ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Cách ly tuyệt đối giữa Train, Validation, Test và nguyên tắc Fit chỉ trên Train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Phân Bổ Dữ Liệu Phân Tầng Giá (Stratification)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Quy mô phân chia 80 / 10 / 10: </a:t>
            </a:r>
            <a:r>
              <a:rPr sz="1200">
                <a:solidFill>
                  <a:srgbClr val="1E293B"/>
                </a:solidFill>
              </a:rPr>
              <a:t>Train: 18,808 dòng (80.0%) | Validation: 2,351 dòng (10.0%) | Test: 2,351 dòng (10.0%).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Bảo toàn phân phối phân vị: </a:t>
            </a:r>
            <a:r>
              <a:rPr sz="1200">
                <a:solidFill>
                  <a:srgbClr val="1E293B"/>
                </a:solidFill>
              </a:rPr>
              <a:t>Phân tầng theo 10 deciles giá price_vnd. Median của cả 3 tập đều đạt chuẩn xác 719M VND (Val: 718M).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Niêm phong tập Test: </a:t>
            </a:r>
            <a:r>
              <a:rPr sz="1200">
                <a:solidFill>
                  <a:srgbClr val="1E293B"/>
                </a:solidFill>
              </a:rPr>
              <a:t>Tập Test được niêm phong hoàn toàn. Chỉ mở đúng 1 lần sau khi đã chốt mô hình trên Validation!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Kiểm soát tính độc lập ID: </a:t>
            </a:r>
            <a:r>
              <a:rPr sz="1200">
                <a:solidFill>
                  <a:srgbClr val="1E293B"/>
                </a:solidFill>
              </a:rPr>
              <a:t>100% không trùng lặp listing_id giữa 3 tập dữ liệu.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Cơ Chế Phòng Chống Rò Rỉ Tuyến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2563EB"/>
                </a:solidFill>
              </a:rPr>
              <a:t>• Fit duy nhất trên Train: </a:t>
            </a:r>
            <a:r>
              <a:rPr sz="1200">
                <a:solidFill>
                  <a:srgbClr val="1E293B"/>
                </a:solidFill>
              </a:rPr>
              <a:t>Bộ SimpleImputer, OneHotEncoder và StandardScaler chỉ được fit() trên 18,808 dòng Train.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563EB"/>
                </a:solidFill>
              </a:rPr>
              <a:t>• Xử lý Unseen Categories: </a:t>
            </a:r>
            <a:r>
              <a:rPr sz="1200">
                <a:solidFill>
                  <a:srgbClr val="1E293B"/>
                </a:solidFill>
              </a:rPr>
              <a:t>OneHotEncoder cấu hình handle_unknown='ignore' để không gây lỗi khi gặp dòng xe mới lạ trên Val/Test.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563EB"/>
                </a:solidFill>
              </a:rPr>
              <a:t>• Không rò rỉ Target: </a:t>
            </a:r>
            <a:r>
              <a:rPr sz="1200">
                <a:solidFill>
                  <a:srgbClr val="1E293B"/>
                </a:solidFill>
              </a:rPr>
              <a:t>Mọi phép chuẩn hóa và biến đổi nhãn được gói trong pipeline độc lập.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563EB"/>
                </a:solidFill>
              </a:rPr>
              <a:t>• Xác thực tự động bằng Unit Test: </a:t>
            </a:r>
            <a:r>
              <a:rPr sz="1200">
                <a:solidFill>
                  <a:srgbClr val="1E293B"/>
                </a:solidFill>
              </a:rPr>
              <a:t>Các bài test trong tests/test_split_data.py kiểm tra tự động trước mỗi lần train.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6 • CHIẾN LƯỢC MÔ HÌNH HÓA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Khảo Sát Đa Dạng Kiến Trúc Mô Hình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So sánh đối ứng từ Baseline, Mô hình tuyến tính đến Rừng ngẫu nhiên &amp; Gradient Boosting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29626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Mô Hình Cơ Sở (Baselines)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Dummy Median: </a:t>
            </a:r>
            <a:r>
              <a:rPr sz="1100">
                <a:solidFill>
                  <a:srgbClr val="1E293B"/>
                </a:solidFill>
              </a:rPr>
              <a:t>Dự đoán hằng số 719M VND. Val MAE = 914.6M, MdAPE = 39.83%, R² = -0.07.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Dummy Mean: </a:t>
            </a:r>
            <a:r>
              <a:rPr sz="1100">
                <a:solidFill>
                  <a:srgbClr val="1E293B"/>
                </a:solidFill>
              </a:rPr>
              <a:t>Dự đoán hằng số 1.164B VND. Val MAE = 1,164.2M, MdAPE = 94.34%, R² = -0.00.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Vai trò: </a:t>
            </a:r>
            <a:r>
              <a:rPr sz="1100">
                <a:solidFill>
                  <a:srgbClr val="1E293B"/>
                </a:solidFill>
              </a:rPr>
              <a:t>Thiết lập sàn chuẩn mực tối thiểu để đo lường giá trị thực tế của ML.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91640"/>
            <a:ext cx="29626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Hồi Quy Tuyến Tính (Linear)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2856" y="2103120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Ridge (Raw VND): </a:t>
            </a:r>
            <a:r>
              <a:rPr sz="1100">
                <a:solidFill>
                  <a:srgbClr val="1E293B"/>
                </a:solidFill>
              </a:rPr>
              <a:t>Val MAE = 379.4M, MdAPE = 23.72%. Bị lệch nặng bởi xe siêu sang do hàm phạt MSE.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Ridge (Log Target): </a:t>
            </a:r>
            <a:r>
              <a:rPr sz="1100">
                <a:solidFill>
                  <a:srgbClr val="1E293B"/>
                </a:solidFill>
              </a:rPr>
              <a:t>Val MAE = 255.7M, MdAPE = 7.72%. Log target giúp giảm 32.6% MAE và giảm 67% MdAPE!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Lasso (Log Target): </a:t>
            </a:r>
            <a:r>
              <a:rPr sz="1100">
                <a:solidFill>
                  <a:srgbClr val="1E293B"/>
                </a:solidFill>
              </a:rPr>
              <a:t>Val MAE = 370.7M, MdAPE = 12.22%. Phạt L1 triệt tiêu nhiều biến phân loại cần thiết.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5448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91640"/>
            <a:ext cx="29626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Mô Hình Cây &amp; Ensemble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2103120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109575"/>
                </a:solidFill>
              </a:rPr>
              <a:t>• HistGradientBoosting: </a:t>
            </a:r>
            <a:r>
              <a:rPr sz="1100">
                <a:solidFill>
                  <a:srgbClr val="1E293B"/>
                </a:solidFill>
              </a:rPr>
              <a:t>Val MAE = 180.8M, MdAPE = 5.37%. Tốc độ huấn luyện siêu nhanh (4.2 giây).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09575"/>
                </a:solidFill>
              </a:rPr>
              <a:t>• Random Forest (Default): </a:t>
            </a:r>
            <a:r>
              <a:rPr sz="1100">
                <a:solidFill>
                  <a:srgbClr val="1E293B"/>
                </a:solidFill>
              </a:rPr>
              <a:t>Val MAE = 159.1M, MdAPE = 4.94%.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09575"/>
                </a:solidFill>
              </a:rPr>
              <a:t>• Random Forest (Tuned): </a:t>
            </a:r>
            <a:r>
              <a:rPr sz="1100">
                <a:solidFill>
                  <a:srgbClr val="1E293B"/>
                </a:solidFill>
              </a:rPr>
              <a:t>150 cây, max_depth=24. Val MAE = 142.9M, MdAPE = 4.25%, R² = 0.8694.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09575"/>
                </a:solidFill>
              </a:rPr>
              <a:t>• Ưu thế cây: </a:t>
            </a:r>
            <a:r>
              <a:rPr sz="1100">
                <a:solidFill>
                  <a:srgbClr val="1E293B"/>
                </a:solidFill>
              </a:rPr>
              <a:t>Bắt trọn mối quan hệ phi tuyến và tương tác phân khúc không cần chuẩn hóa phân phối.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6 • BẢNG XẾP HẠNG VALIDATION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So Sánh 10 Cấu Hình &amp; Lựa Chọn Champion Model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Đánh giá nhất quán trên 2,351 dòng Validation và nghịch đảo về đơn vị VND thực tế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931920"/>
                <a:gridCol w="1188720"/>
                <a:gridCol w="2011680"/>
                <a:gridCol w="118872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Hạng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Cấu Hình Mô Hình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Val MAE (VND)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Val R²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Val MdAPE (%)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🥇 1 (Champion)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Tree_RandomForest_Tuned_LogTarget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Log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142,934,537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0.8694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4.25%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🥈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Tree_RandomForest_LogTarget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159,102,971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0.8425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4.94%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🥉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Tree_RandomForest_RawTarget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168,751,598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0.8949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6.61%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Tree_HistGBM_LogTarget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180,831,847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0.7888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5.37%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Linear_Ridge_LogTarget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255,658,033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0.6996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7.72%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Linear_Ridge_RawTarget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379,429,332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0.8075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23.72%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Baseline_Dummy_Median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914,616,759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-0.0714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39.83%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5029200"/>
            <a:ext cx="10728655" cy="12801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9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109575"/>
                </a:solidFill>
              </a:defRPr>
            </a:pPr>
            <a:r>
              <a:t>LÝ DO CHỌN CHAMPION: Tree_RandomForest_Tuned_LogTarget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Giảm 84.4% MAE so với Median Baseline  |  MdAPE đạt 4.25% (nằm trọn trong biên thương lượng xe 3-5%)</a:t>
            </a:r>
            <a:br/>
            <a:r>
              <a:t>• Giải thích 86.94% phương sai giá  |  Kích thước gọn nhẹ 31 MB, thời gian fit ~5 giây, sẵn sàng triển khai thực tế.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6 • ĐÁNH GIÁ TẬP TEST CHÍNH THỨC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Kết Quả Kiểm Thử Độc Lập Trên Tập Test Chưa Thấy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Test MAE đạt 111.8M VND, R² đạt 0.9448, MdAPE đạt 4.29% trên 2,351 xe chưa từng thấy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Kết Quả Tập Test Chính Thức (2,351 xe)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Test MAE: 111,793,581 VND
  </a:t>
            </a:r>
            <a:r>
              <a:rPr sz="1100">
                <a:solidFill>
                  <a:srgbClr val="1E293B"/>
                </a:solidFill>
              </a:rPr>
              <a:t>Giảm 86.8% so với Median Baseline (844.9M VND).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Test R²: 0.9448
  </a:t>
            </a:r>
            <a:r>
              <a:rPr sz="1100">
                <a:solidFill>
                  <a:srgbClr val="1E293B"/>
                </a:solidFill>
              </a:rPr>
              <a:t>Giải thích xấp xỉ 94.5% biến thiên giá thực tế.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Test MdAPE: 4.29%
  </a:t>
            </a:r>
            <a:r>
              <a:rPr sz="1100">
                <a:solidFill>
                  <a:srgbClr val="1E293B"/>
                </a:solidFill>
              </a:rPr>
              <a:t>Một nửa số xe được dự đoán lệch không quá 4.29%.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HistGBM Test MAE: 148.9M
  </a:t>
            </a:r>
            <a:r>
              <a:rPr sz="1100">
                <a:solidFill>
                  <a:srgbClr val="1E293B"/>
                </a:solidFill>
              </a:rPr>
              <a:t>R² = 0.9127 (xếp vị trí á quân).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Ridge Test MAE: 196.0M
  </a:t>
            </a:r>
            <a:r>
              <a:rPr sz="1100">
                <a:solidFill>
                  <a:srgbClr val="1E293B"/>
                </a:solidFill>
              </a:rPr>
              <a:t>R² = 0.8529 (tuyến tính vẫn kém cây ~84M MAE).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Giải Mã: Tại Sao Test MAE (111.8M) Tốt Hơn Val MAE (142.9M)?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Không phải do Overfitting hay May mắn: </a:t>
            </a:r>
            <a:r>
              <a:rPr sz="1100">
                <a:solidFill>
                  <a:srgbClr val="1E293B"/>
                </a:solidFill>
              </a:rPr>
              <a:t>Chênh lệch bắt nguồn hoàn toàn từ 1 chiếc xe siêu sang cá biệt trong tập Validation.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Ngoại lai cá biệt tại Validation: </a:t>
            </a:r>
            <a:r>
              <a:rPr sz="1100">
                <a:solidFill>
                  <a:srgbClr val="1E293B"/>
                </a:solidFill>
              </a:rPr>
              <a:t>1 xe giá 38.999 tỷ VND được dự đoán 3.247 tỷ (sai số lệch 35.75 tỷ VND trên 1 dòng!). Chiếc xe này đóng góp tới +15.2M VND vào MAE toàn tập Val!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Xe phổ thông (&lt;1 tỷ VND) tương đồng tuyệt đối: </a:t>
            </a:r>
            <a:r>
              <a:rPr sz="1100">
                <a:solidFill>
                  <a:srgbClr val="1E293B"/>
                </a:solidFill>
              </a:rPr>
              <a:t>Ở phân khúc đại chúng (&lt;1B), MAE giữa Val và Test hoàn toàn trùng khớp: ~25.5M vs ~26.1M VND.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MdAPE vững chắc: </a:t>
            </a:r>
            <a:r>
              <a:rPr sz="1100">
                <a:solidFill>
                  <a:srgbClr val="1E293B"/>
                </a:solidFill>
              </a:rPr>
              <a:t>4.25% (Val) vs 4.29% (Test) khẳng định độ chính xác thực tế trên xe đại chúng là hoàn toàn tương đương.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6.1 • KIỂM TOÁN ĐỘC LẬP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Phát Hiện Rò Rỉ Đăng Chéo Tin (Cross-Posting Overlap)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Liệu Test MAE 111.8M có phải do học vẹt các tin đăng nhân bản giữa Train và Test?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Phân Rã 5 Dạng Trùng Lặp Thị Trường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1. Listing ID Duplicate: </a:t>
            </a:r>
            <a:r>
              <a:rPr sz="1100">
                <a:solidFill>
                  <a:srgbClr val="1E293B"/>
                </a:solidFill>
              </a:rPr>
              <a:t>0 dòng (0.00%). Tuyệt đối không trùng ID.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2. Exact Row Duplicate: </a:t>
            </a:r>
            <a:r>
              <a:rPr sz="1100">
                <a:solidFill>
                  <a:srgbClr val="1E293B"/>
                </a:solidFill>
              </a:rPr>
              <a:t>0 dòng (0.00%). Không có dòng copy vô nghĩa.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3. Cross-Posting Overlap: </a:t>
            </a:r>
            <a:r>
              <a:rPr sz="1100">
                <a:solidFill>
                  <a:srgbClr val="1E293B"/>
                </a:solidFill>
              </a:rPr>
              <a:t>8.21% Test trùng văn bản mô tả với Train do các salon copy bài quảng cáo của nhau.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4. Showroom Inventory Overlap: </a:t>
            </a:r>
            <a:r>
              <a:rPr sz="1100">
                <a:solidFill>
                  <a:srgbClr val="1E293B"/>
                </a:solidFill>
              </a:rPr>
              <a:t>27.3% Test trùng thông số xe mới (ODO=0) theo giá hãng. Đã có cờ is_zero_mileage phân tách.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5. Spec Group Overlap: </a:t>
            </a:r>
            <a:r>
              <a:rPr sz="1100">
                <a:solidFill>
                  <a:srgbClr val="1E293B"/>
                </a:solidFill>
              </a:rPr>
              <a:t>95.8% Test có cấu hình xe (Vios 2020 AT) đã từng gặp trong Train. Đây là đặc tính Tabular IID.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Câu Hỏi Khoa Học Cần Giải Quyết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D97706"/>
                </a:solidFill>
              </a:rPr>
              <a:t>• Nghi vấn phương pháp luận: </a:t>
            </a:r>
            <a:r>
              <a:rPr sz="1200">
                <a:solidFill>
                  <a:srgbClr val="1E293B"/>
                </a:solidFill>
              </a:rPr>
              <a:t>Có 9.15% tin Test có bản sao mô tả trong Train. Nếu loại bỏ hoàn toàn các tin này, mô hình có bị sập độ chính xác?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D97706"/>
                </a:solidFill>
              </a:rPr>
              <a:t>• Bản chất Random Forest: </a:t>
            </a:r>
            <a:r>
              <a:rPr sz="1200">
                <a:solidFill>
                  <a:srgbClr val="1E293B"/>
                </a:solidFill>
              </a:rPr>
              <a:t>RF hoạt động như bộ nội suy láng giềng phân tầng. Cấu hình quen thuộc có MAE 84.1M (MdAPE 4.05%), cấu hình mới lạ có MAE 741.6M (MdAPE 15.44%).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D97706"/>
                </a:solidFill>
              </a:rPr>
              <a:t>• Hành động triển khai: </a:t>
            </a:r>
            <a:r>
              <a:rPr sz="1200">
                <a:solidFill>
                  <a:srgbClr val="1E293B"/>
                </a:solidFill>
              </a:rPr>
              <a:t>Thực thi Phase 6.2 - Group-Aware Evaluation. Gom cụm tin trùng và chia tập StratifiedGroupKFold để đạt 0% rò rỉ!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6.2 • ĐÁNH GIÁ ĐỘ BỀN CHIA NHÓM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Bằng Chứng Độ Bền: MdAPE Vẫn Đạt 4.29% Tuyệt Đối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Triệt tiêu 100% rò rỉ tin đăng trùng mà không suy giảm độ chính xác trên xe phổ thông</a:t>
            </a:r>
          </a:p>
        </p:txBody>
      </p:sp>
      <p:pic>
        <p:nvPicPr>
          <p:cNvPr id="3" name="Picture 2" descr="phase6_vs_phase6_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120640" cy="4754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Bằng Chứng Thực Nghiệm Độ Bền Tuyệt Đối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109575"/>
                </a:solidFill>
              </a:rPr>
              <a:t>• Cách ly 903 cụm trùng (2,430 xe): </a:t>
            </a:r>
            <a:r>
              <a:rPr sz="1100">
                <a:solidFill>
                  <a:srgbClr val="1E293B"/>
                </a:solidFill>
              </a:rPr>
              <a:t>Chia tập StratifiedGroupKFold đảm bảo 0% rò rỉ cluster giữa Train, Val và Test.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09575"/>
                </a:solidFill>
              </a:rPr>
              <a:t>• Test MdAPE giữ vững 4.29% tuyệt đối: </a:t>
            </a:r>
            <a:r>
              <a:rPr sz="1100">
                <a:solidFill>
                  <a:srgbClr val="1E293B"/>
                </a:solidFill>
              </a:rPr>
              <a:t>Trùng khớp 100% với Phase 6! Chứng minh năng lực định giá của mô hình là hoàn toàn thực chất, không phụ thuộc vào bài đăng trùng.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09575"/>
                </a:solidFill>
              </a:rPr>
              <a:t>• Giải mã mức tăng MAE (111.8M -&gt; 130.8M): </a:t>
            </a:r>
            <a:r>
              <a:rPr sz="1100">
                <a:solidFill>
                  <a:srgbClr val="1E293B"/>
                </a:solidFill>
              </a:rPr>
              <a:t>Tập Test mới ngẫu nhiên có thêm 27 xe siêu sang &gt;5 tỷ (117 vs 90 xe). Riêng 27 xe này đã làm tăng trung bình MAE thêm +14.5M VND!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09575"/>
                </a:solidFill>
              </a:rPr>
              <a:t>• Xe phổ thông (&lt;1 tỷ) chính xác hơn: </a:t>
            </a:r>
            <a:r>
              <a:rPr sz="1100">
                <a:solidFill>
                  <a:srgbClr val="1E293B"/>
                </a:solidFill>
              </a:rPr>
              <a:t>Xe &lt;500M đạt MAE 24.2M VND (tốt hơn mức 26.1M của Phase 6). Xe 500M-1B giữ vững 40.5M VND.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6 &amp; 6.1 • TẦM QUAN TRỌNG ĐẶC TRƯNG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Giải Thích Mô Hình &amp; Sự Phù Hợp Nghiệp Vụ Thuế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Độ giảm phương sai (MDI) và Permutation Importance phản ánh chân thực biểu thuế TTĐB Việt Nam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120640" cy="4754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Đối Chiếu Thực Tiễn Ngành Ô Tô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is_luxury_brand (43.1% MDI): </a:t>
            </a:r>
            <a:r>
              <a:rPr sz="1100">
                <a:solidFill>
                  <a:srgbClr val="1E293B"/>
                </a:solidFill>
              </a:rPr>
              <a:t>Xác lập phân khúc trần giá. Một chiếc Mercedes cùng năm sản xuất có giá gấp 3-5 lần xe phổ thông.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engine_displacement_l (26.35% MDI): </a:t>
            </a:r>
            <a:r>
              <a:rPr sz="1100">
                <a:solidFill>
                  <a:srgbClr val="1E293B"/>
                </a:solidFill>
              </a:rPr>
              <a:t>Chiếm 1/4 quyết định giá xe do gắn trực tiếp với biểu thuế TTĐB Việt Nam (thuế suất lên tới 150% cho máy &gt;6.0L).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Đính chính thuật ngữ (MDI vs Gini): </a:t>
            </a:r>
            <a:r>
              <a:rPr sz="1100">
                <a:solidFill>
                  <a:srgbClr val="1E293B"/>
                </a:solidFill>
              </a:rPr>
              <a:t>Trong hồi quy, Random Forest dùng Độ giảm phương sai (MDI), không phải Gini (chỉ dành cho phân loại).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Nghịch lý ODO (mileage_km - 0.69% MDI): </a:t>
            </a:r>
            <a:r>
              <a:rPr sz="1100">
                <a:solidFill>
                  <a:srgbClr val="1E293B"/>
                </a:solidFill>
              </a:rPr>
              <a:t>Toàn cục (Global) ODO có trọng số thấp vì biên giá thương hiệu (40 tỷ) áp đảo ODO. Cục bộ (Local), ODO quyết định 30-50M chênh lệch giữa 2 xe cùng đời!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HỆ THỐNG SUY LUẬN &amp; KỸ THUẬT PHẦN MỀM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Suy Luận Thực Tế &amp; Bộ 87 Unit Tests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src/models/predict.py vận hành tự động, chống rò rỉ dữ liệu và kiểm thử 100% offline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Kiến Trúc Module Suy Luận (predict.py)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Giao diện dòng lệnh CLI linh hoạt: </a:t>
            </a:r>
            <a:r>
              <a:rPr sz="1100">
                <a:solidFill>
                  <a:srgbClr val="1E293B"/>
                </a:solidFill>
              </a:rPr>
              <a:t>Hỗ trợ dự đoán đơn lẻ 1 xe qua tham số CLI hoặc dự đoán hàng loạt từ file CSV.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Tự động trích xuất đặc trưng: </a:t>
            </a:r>
            <a:r>
              <a:rPr sz="1100">
                <a:solidFill>
                  <a:srgbClr val="1E293B"/>
                </a:solidFill>
              </a:rPr>
              <a:t>Tự tính car_age, is_luxury_brand, is_zero_mileage và bóc tách dung tích động cơ mà không bắt người dùng nhập tay.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An toàn dữ liệu tuyệt đối: </a:t>
            </a:r>
            <a:r>
              <a:rPr sz="1100">
                <a:solidFill>
                  <a:srgbClr val="1E293B"/>
                </a:solidFill>
              </a:rPr>
              <a:t>Tự động loại bỏ các cột rò rỉ nếu người dùng vô tình đưa vào file CSV đầu vào.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Hỗ trợ Smoke Test tích hợp: </a:t>
            </a:r>
            <a:r>
              <a:rPr sz="1100">
                <a:solidFill>
                  <a:srgbClr val="1E293B"/>
                </a:solidFill>
              </a:rPr>
              <a:t>Lệnh python src/models/predict.py --smoke-test kiểm thử ngay lập tức 3 dòng xe đại diện.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Chuẩn Mực Kỹ Thuật Phần Mềm AI Club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109575"/>
                </a:solidFill>
              </a:rPr>
              <a:t>• 87/87 Unit Tests Passing (100%): </a:t>
            </a:r>
            <a:r>
              <a:rPr sz="1100">
                <a:solidFill>
                  <a:srgbClr val="1E293B"/>
                </a:solidFill>
              </a:rPr>
              <a:t>Toàn bộ bài test thực thi hoàn toàn offline trong 5.94 giây. Kiểm tra từ crawler, cleaning, splits đến inference.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09575"/>
                </a:solidFill>
              </a:rPr>
              <a:t>• Quản lý Artifact tối ưu: </a:t>
            </a:r>
            <a:r>
              <a:rPr sz="1100">
                <a:solidFill>
                  <a:srgbClr val="1E293B"/>
                </a:solidFill>
              </a:rPr>
              <a:t>Mô hình nén dạng joblib chỉ 31 MB, dễ dàng nhúng vào container Docker hoặc microservice.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09575"/>
                </a:solidFill>
              </a:rPr>
              <a:t>• Khả năng tái lập tuyệt đối (Reproducibility): </a:t>
            </a:r>
            <a:r>
              <a:rPr sz="1100">
                <a:solidFill>
                  <a:srgbClr val="1E293B"/>
                </a:solidFill>
              </a:rPr>
              <a:t>Cố định random_state=42 trên toàn bộ quy trình từ split, preprocessor đến random forest.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09575"/>
                </a:solidFill>
              </a:rPr>
              <a:t>• Zero Untracked Changes: </a:t>
            </a:r>
            <a:r>
              <a:rPr sz="1100">
                <a:solidFill>
                  <a:srgbClr val="1E293B"/>
                </a:solidFill>
              </a:rPr>
              <a:t>Mọi kết quả và số liệu đều truy nguyên được về file JSON/CSV trong repository.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ĐÁNH GIÁ KHOA HỌC KHÁCH QUAN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Giới Hạn Của Đề Tài &amp; Đe Dọa Giá Trị Thực Tiễn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Nhìn nhận trung thực các hạn chế về dữ liệu và điều kiện áp dụng trong thế giới thực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Bốn Giới Hạn Nghiệp Vụ Cốt Lõi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D97706"/>
                </a:solidFill>
              </a:rPr>
              <a:t>• 1. Giá rao bán vs Giá giao dịch: </a:t>
            </a:r>
            <a:r>
              <a:rPr sz="1100">
                <a:solidFill>
                  <a:srgbClr val="1E293B"/>
                </a:solidFill>
              </a:rPr>
              <a:t>Dữ liệu là giá chào trên web (asking price), không phải giá chốt công chứng (transaction price). Giá thực tế thường thấp hơn 2-5% sau mặc cả.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D97706"/>
                </a:solidFill>
              </a:rPr>
              <a:t>• 2. Thiếu số khung VIN / Biển số: </a:t>
            </a:r>
            <a:r>
              <a:rPr sz="1100">
                <a:solidFill>
                  <a:srgbClr val="1E293B"/>
                </a:solidFill>
              </a:rPr>
              <a:t>Sàn xe không công khai VIN. Không thể triệt tiêu 100% việc 1 chiếc xe vật lý được 2 salon viết 2 bài quảng cáo khác nhau.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D97706"/>
                </a:solidFill>
              </a:rPr>
              <a:t>• 3. Mặt cắt ngang tĩnh (Cross-Sectional): </a:t>
            </a:r>
            <a:r>
              <a:rPr sz="1100">
                <a:solidFill>
                  <a:srgbClr val="1E293B"/>
                </a:solidFill>
              </a:rPr>
              <a:t>Dữ liệu là một lát cắt thời gian năm 2023. Chưa mô hình hóa được biến động chính sách lệ phí trước bạ theo từng quý.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D97706"/>
                </a:solidFill>
              </a:rPr>
              <a:t>• 4. Độ lệch vùng miền: </a:t>
            </a:r>
            <a:r>
              <a:rPr sz="1100">
                <a:solidFill>
                  <a:srgbClr val="1E293B"/>
                </a:solidFill>
              </a:rPr>
              <a:t>Hơn 75% dữ liệu tập trung tại Hà Nội và TP.HCM. Cần hiệu chỉnh khi áp dụng cho các tỉnh miền núi/xa xôi.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Ranh Giới Ứng Dụng An Toàn Của Mô Hình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Phạm vi ứng dụng xuất sắc: </a:t>
            </a:r>
            <a:r>
              <a:rPr sz="1200">
                <a:solidFill>
                  <a:srgbClr val="1E293B"/>
                </a:solidFill>
              </a:rPr>
              <a:t>Định giá mỏ neo tham chiếu cho người mua cá nhân và chuyên viên định giá đối với các dòng xe phổ biến đời 2015-2023.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Cảnh báo ngoại suy xe đời sâu: </a:t>
            </a:r>
            <a:r>
              <a:rPr sz="1200">
                <a:solidFill>
                  <a:srgbClr val="1E293B"/>
                </a:solidFill>
              </a:rPr>
              <a:t>Mô hình cây không thể dự đoán chính xác cho xe trước 2015 (Cohort B sensitivity chỉ ra rủi ro ngoại suy MAE vọt lên 314M).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• Khuyến nghị người dùng: </a:t>
            </a:r>
            <a:r>
              <a:rPr sz="1200">
                <a:solidFill>
                  <a:srgbClr val="1E293B"/>
                </a:solidFill>
              </a:rPr>
              <a:t>Mô hình là công cụ tham khảo hỗ trợ ra quyết định (Decision Support Tool), không thay thế việc kiểm định cơ khí trực tiếp (thủy kích, tai nạn, khung gầm).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800" b="1">
                <a:solidFill>
                  <a:srgbClr val="FFFFFF"/>
                </a:solidFill>
              </a:defRPr>
            </a:pPr>
            <a:r>
              <a:t>KẾT LUẬN &amp; ĐỊNH HƯỚNG PHÁT TRIỂN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6B6D4"/>
                </a:solidFill>
              </a:rPr>
              <a:t>✓ Hoàn thành trọn vẹn mục tiêu Điều lệ: </a:t>
            </a:r>
            <a:r>
              <a:rPr sz="1300">
                <a:solidFill>
                  <a:srgbClr val="E2E8F0"/>
                </a:solidFill>
              </a:rPr>
              <a:t>Xây dựng thành công hệ thống ML định giá ô tô cũ tại Việt Nam với mô hình vô địch Random Forest Log-Target.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6B6D4"/>
                </a:solidFill>
              </a:rPr>
              <a:t>✓ Hiệu năng bền vững được chứng minh: </a:t>
            </a:r>
            <a:r>
              <a:rPr sz="1300">
                <a:solidFill>
                  <a:srgbClr val="E2E8F0"/>
                </a:solidFill>
              </a:rPr>
              <a:t>Test MdAPE đạt 4.29% trên cả phân chia ngẫu nhiên và phân chia cách ly tin trùng 100% (Group-Aware).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6B6D4"/>
                </a:solidFill>
              </a:rPr>
              <a:t>✓ Định hướng Kỹ thuật tiếp theo: </a:t>
            </a:r>
            <a:r>
              <a:rPr sz="1300">
                <a:solidFill>
                  <a:srgbClr val="E2E8F0"/>
                </a:solidFill>
              </a:rPr>
              <a:t>Thử nghiệm XGBoost/LightGBM/CatBoost; Tích hợp mô hình NLP (PhoBERT) trích xuất option từ văn bản và Computer Vision phân tích ảnh xe.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6B6D4"/>
                </a:solidFill>
              </a:rPr>
              <a:t>✓ Định hướng Sản phẩm hóa: </a:t>
            </a:r>
            <a:r>
              <a:rPr sz="1300">
                <a:solidFill>
                  <a:srgbClr val="E2E8F0"/>
                </a:solidFill>
              </a:rPr>
              <a:t>Đóng gói Docker container, xây dựng API FastAPI và giao diện Streamlit tra cứu giá trực quan cho người tiêu dùng.</a:t>
            </a:r>
          </a:p>
          <a:p>
            <a:pPr algn="ctr">
              <a:spcBef>
                <a:spcPts val="3000"/>
              </a:spcBef>
              <a:defRPr b="1" sz="1600">
                <a:solidFill>
                  <a:srgbClr val="D97706"/>
                </a:solidFill>
              </a:defRPr>
            </a:pPr>
            <a:r>
              <a:t>CẢM ƠN HỘI ĐỒNG MENTOR &amp; CÂU LẠC BỘ AI — SẴN SÀNG CHO PHẦN PHẢN BIỆN Q&amp;A!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